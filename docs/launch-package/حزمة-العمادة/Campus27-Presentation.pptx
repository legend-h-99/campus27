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7A8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Campus27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نظام إدارة الكلية التقنية المتكامل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2B8C6"/>
                </a:solidFill>
              </a:defRPr>
            </a:pPr>
            <a:r>
              <a:t>عرض تقديمي — فبراير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D7A8F"/>
                </a:solidFill>
              </a:defRPr>
            </a:pPr>
            <a:r>
              <a:t>التحدي — الوضع الحالي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أنظمة متعددة ومنفصلة لإدارة العمليات</a:t>
            </a:r>
          </a:p>
          <a:p>
            <a:pPr algn="r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صعوبة الحصول على صورة شاملة عن أداء الكلية</a:t>
            </a:r>
          </a:p>
          <a:p>
            <a:pPr algn="r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العمليات الورقية تستهلك وقت الكادر الإداري</a:t>
            </a:r>
          </a:p>
          <a:p>
            <a:pPr algn="r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متطلبات الاعتماد (NCAAA) تحتاج توثيق مستمر</a:t>
            </a:r>
          </a:p>
          <a:p>
            <a:pPr algn="r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غياب نظام إنذار مبكر للمتدربين المعرضين للتعثر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D7A8F"/>
                </a:solidFill>
              </a:defRPr>
            </a:pPr>
            <a:r>
              <a:t>الحل — Campus27 كل شيء في مكان واحد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11 وحدة إدارية متكاملة في منصة واحدة</a:t>
            </a:r>
          </a:p>
          <a:p>
            <a:pPr algn="r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لوحة قيادة ذكية مخصصة لكل دور</a:t>
            </a:r>
          </a:p>
          <a:p>
            <a:pPr algn="r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نظام جودة كامل متوافق مع NCAAA v3.0</a:t>
            </a:r>
          </a:p>
          <a:p>
            <a:pPr algn="r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ذكاء اصطناعي مدمج (5 خدمات)</a:t>
            </a:r>
          </a:p>
          <a:p>
            <a:pPr algn="r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ثنائي اللغة: عربي + إنجليزي مع تبديل فوري</a:t>
            </a:r>
          </a:p>
          <a:p>
            <a:pPr algn="r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استضافة سحابية — أي جهاز، أي مكان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D7A8F"/>
                </a:solidFill>
              </a:defRPr>
            </a:pPr>
            <a:r>
              <a:t>المنصة بالأرقام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المؤشر</a:t>
                      </a:r>
                    </a:p>
                  </a:txBody>
                  <a:tcPr>
                    <a:solidFill>
                      <a:srgbClr val="2D7A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القيمة</a:t>
                      </a:r>
                    </a:p>
                  </a:txBody>
                  <a:tcPr>
                    <a:solidFill>
                      <a:srgbClr val="2D7A8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وحدات إدارية</a:t>
                      </a:r>
                    </a:p>
                  </a:txBody>
                  <a:tcPr>
                    <a:solidFill>
                      <a:srgbClr val="F0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11 وحدة</a:t>
                      </a:r>
                    </a:p>
                  </a:txBody>
                  <a:tcPr>
                    <a:solidFill>
                      <a:srgbClr val="F0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صفحات المنصة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22 صفحة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أدوار المستخدمين</a:t>
                      </a:r>
                    </a:p>
                  </a:txBody>
                  <a:tcPr>
                    <a:solidFill>
                      <a:srgbClr val="F0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13 دور</a:t>
                      </a:r>
                    </a:p>
                  </a:txBody>
                  <a:tcPr>
                    <a:solidFill>
                      <a:srgbClr val="F0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الصلاحيات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59 صلاحية دقيقة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جداول البيانات</a:t>
                      </a:r>
                    </a:p>
                  </a:txBody>
                  <a:tcPr>
                    <a:solidFill>
                      <a:srgbClr val="F0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44 جدول</a:t>
                      </a:r>
                    </a:p>
                  </a:txBody>
                  <a:tcPr>
                    <a:solidFill>
                      <a:srgbClr val="F0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نقاط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39+ نقطة وصول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خدمات AI</a:t>
                      </a:r>
                    </a:p>
                  </a:txBody>
                  <a:tcPr>
                    <a:solidFill>
                      <a:srgbClr val="F0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 خدمات</a:t>
                      </a:r>
                    </a:p>
                  </a:txBody>
                  <a:tcPr>
                    <a:solidFill>
                      <a:srgbClr val="F0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اللغات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عربي + إنجليزي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D7A8F"/>
                </a:solidFill>
              </a:defRPr>
            </a:pPr>
            <a:r>
              <a:t>لوحة القيادة الذكية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لوحة العميد/المدير — رؤية شاملة لجميع مؤشرات الكلية</a:t>
            </a:r>
          </a:p>
          <a:p>
            <a:pPr algn="r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لوحة المدرب — مقرراته، درجاته، حضوره</a:t>
            </a:r>
          </a:p>
          <a:p>
            <a:pPr algn="r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لوحة المتدرب — درجاته، جدوله، إشعاراته</a:t>
            </a:r>
          </a:p>
          <a:p>
            <a:pPr algn="r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━━━━━━━━━━━━━━━━━━━━━━━━━━━━━━━━</a:t>
            </a:r>
          </a:p>
          <a:p>
            <a:pPr algn="r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إحصائيات فورية + رسوم بيانية تفاعلية</a:t>
            </a:r>
          </a:p>
          <a:p>
            <a:pPr algn="r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رؤى الذكاء الاصطناعي + الموافقات المعلقة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D7A8F"/>
                </a:solidFill>
              </a:defRPr>
            </a:pPr>
            <a:r>
              <a:t>نظام الجودة والاعتماد — NCAAA v3.0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القدرة</a:t>
                      </a:r>
                    </a:p>
                  </a:txBody>
                  <a:tcPr>
                    <a:solidFill>
                      <a:srgbClr val="2D7A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التفاصيل</a:t>
                      </a:r>
                    </a:p>
                  </a:txBody>
                  <a:tcPr>
                    <a:solidFill>
                      <a:srgbClr val="2D7A8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المعايير</a:t>
                      </a:r>
                    </a:p>
                  </a:txBody>
                  <a:tcPr>
                    <a:solidFill>
                      <a:srgbClr val="F0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10 معايير NCAAA</a:t>
                      </a:r>
                    </a:p>
                  </a:txBody>
                  <a:tcPr>
                    <a:solidFill>
                      <a:srgbClr val="F0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مؤشرات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15+ KPI مع أهداف وقياسات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التدقيق</a:t>
                      </a:r>
                    </a:p>
                  </a:txBody>
                  <a:tcPr>
                    <a:solidFill>
                      <a:srgbClr val="F0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داخلي، خارجي، مراجعة برامج</a:t>
                      </a:r>
                    </a:p>
                  </a:txBody>
                  <a:tcPr>
                    <a:solidFill>
                      <a:srgbClr val="F0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خطط التحسين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إجراءات تصحيحية ووقائية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الاستبيانات</a:t>
                      </a:r>
                    </a:p>
                  </a:txBody>
                  <a:tcPr>
                    <a:solidFill>
                      <a:srgbClr val="F0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7 أنواع</a:t>
                      </a:r>
                    </a:p>
                  </a:txBody>
                  <a:tcPr>
                    <a:solidFill>
                      <a:srgbClr val="F0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الوثائق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سياسات، إجراءات، أدلة، نماذج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AI</a:t>
                      </a:r>
                    </a:p>
                  </a:txBody>
                  <a:tcPr>
                    <a:solidFill>
                      <a:srgbClr val="F0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تحليل جاهزية الاعتماد تلقائياً</a:t>
                      </a:r>
                    </a:p>
                  </a:txBody>
                  <a:tcPr>
                    <a:solidFill>
                      <a:srgbClr val="F0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D7A8F"/>
                </a:solidFill>
              </a:defRPr>
            </a:pPr>
            <a:r>
              <a:t>مركز الذكاء الاصطناعي — 5 خدمات ذكية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1. المحادثة الذكية — اسأل أي سؤال عن بيانات الكلية</a:t>
            </a:r>
          </a:p>
          <a:p>
            <a:pPr algn="r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2. الرؤى والتحليلات — اكتشاف أنماط وفرص تحسين</a:t>
            </a:r>
          </a:p>
          <a:p>
            <a:pPr algn="r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3. الإنذار المبكر — المتدربين المعرضين للتعثر (دقة 86%)</a:t>
            </a:r>
          </a:p>
          <a:p>
            <a:pPr algn="r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4. التوصيات الذكية — اقتراحات قابلة للتنفيذ</a:t>
            </a:r>
          </a:p>
          <a:p>
            <a:pPr algn="r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5. التقارير الآلية — توليد تقارير شاملة تلقائياً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D7A8F"/>
                </a:solidFill>
              </a:defRPr>
            </a:pPr>
            <a:r>
              <a:t>الأمان والصلاحيات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13 دور مستخدم بـ 59 صلاحية دقيقة</a:t>
            </a:r>
          </a:p>
          <a:p>
            <a:pPr algn="r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كل مستخدم يرى فقط ما يخصه — لا أكثر</a:t>
            </a:r>
          </a:p>
          <a:p>
            <a:pPr algn="r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تشفير JWT + اتصالات HTTPS مشفرة</a:t>
            </a:r>
          </a:p>
          <a:p>
            <a:pPr algn="r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سجل مراجعة كامل لجميع العمليات (Audit Log)</a:t>
            </a:r>
          </a:p>
          <a:p>
            <a:pPr algn="r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━━━━━━━━━━━━━━━━━━━━━━━━━━━━━━━━</a:t>
            </a:r>
          </a:p>
          <a:p>
            <a:pPr algn="r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عميد ← يرى الكل | وكيل ← نطاقه | مدرب ← مقرراته | متدرب ← بياناته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D7A8F"/>
                </a:solidFill>
              </a:defRPr>
            </a:pPr>
            <a:r>
              <a:t>خطة الإطلاق التجريبي — 8 أسابيع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المرحلة</a:t>
                      </a:r>
                    </a:p>
                  </a:txBody>
                  <a:tcPr>
                    <a:solidFill>
                      <a:srgbClr val="2D7A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المدة</a:t>
                      </a:r>
                    </a:p>
                  </a:txBody>
                  <a:tcPr>
                    <a:solidFill>
                      <a:srgbClr val="2D7A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المشاركون</a:t>
                      </a:r>
                    </a:p>
                  </a:txBody>
                  <a:tcPr>
                    <a:solidFill>
                      <a:srgbClr val="2D7A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الهدف</a:t>
                      </a:r>
                    </a:p>
                  </a:txBody>
                  <a:tcPr>
                    <a:solidFill>
                      <a:srgbClr val="2D7A8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التهيئة</a:t>
                      </a:r>
                    </a:p>
                  </a:txBody>
                  <a:tcPr>
                    <a:solidFill>
                      <a:srgbClr val="F0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أسبوع 1</a:t>
                      </a:r>
                    </a:p>
                  </a:txBody>
                  <a:tcPr>
                    <a:solidFill>
                      <a:srgbClr val="F0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فريق تقني</a:t>
                      </a:r>
                    </a:p>
                  </a:txBody>
                  <a:tcPr>
                    <a:solidFill>
                      <a:srgbClr val="F0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إعداد البيئة والبيانات</a:t>
                      </a:r>
                    </a:p>
                  </a:txBody>
                  <a:tcPr>
                    <a:solidFill>
                      <a:srgbClr val="F0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التدريب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أسبوع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20 مدرب + 3 رؤساء + وكلاء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ورش تدريبية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التجربة</a:t>
                      </a:r>
                    </a:p>
                  </a:txBody>
                  <a:tcPr>
                    <a:solidFill>
                      <a:srgbClr val="F0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أسابيع 3-6</a:t>
                      </a:r>
                    </a:p>
                  </a:txBody>
                  <a:tcPr>
                    <a:solidFill>
                      <a:srgbClr val="F0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جميع المشاركين</a:t>
                      </a:r>
                    </a:p>
                  </a:txBody>
                  <a:tcPr>
                    <a:solidFill>
                      <a:srgbClr val="F0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استخدام فعلي</a:t>
                      </a:r>
                    </a:p>
                  </a:txBody>
                  <a:tcPr>
                    <a:solidFill>
                      <a:srgbClr val="F0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التقييم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أسابيع 7-8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فريق المشروع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تقييم واتخاذ قرار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7A8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الخطوة التالية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600"/>
              </a:spcAft>
              <a:defRPr sz="2000">
                <a:solidFill>
                  <a:srgbClr val="FFFFFF"/>
                </a:solidFill>
              </a:defRPr>
            </a:pPr>
            <a:r>
              <a:t>1. الموافقة على إطلاق التجربة المحدودة</a:t>
            </a:r>
          </a:p>
          <a:p>
            <a:pPr algn="r">
              <a:spcAft>
                <a:spcPts val="1600"/>
              </a:spcAft>
              <a:defRPr sz="2000">
                <a:solidFill>
                  <a:srgbClr val="FFFFFF"/>
                </a:solidFill>
              </a:defRPr>
            </a:pPr>
            <a:r>
              <a:t>2. تحديد 3 أقسام للمشاركة في التجربة</a:t>
            </a:r>
          </a:p>
          <a:p>
            <a:pPr algn="r">
              <a:spcAft>
                <a:spcPts val="1600"/>
              </a:spcAft>
              <a:defRPr sz="2000">
                <a:solidFill>
                  <a:srgbClr val="FFFFFF"/>
                </a:solidFill>
              </a:defRPr>
            </a:pPr>
            <a:r>
              <a:t>3. تعيين منسق مشروع من جانب الكلية</a:t>
            </a:r>
          </a:p>
          <a:p>
            <a:pPr algn="r">
              <a:spcAft>
                <a:spcPts val="1600"/>
              </a:spcAft>
              <a:defRPr sz="2000">
                <a:solidFill>
                  <a:srgbClr val="FFFFFF"/>
                </a:solidFill>
              </a:defRPr>
            </a:pPr>
            <a:r>
              <a:t>4. تخصيص فترة تدريبية (يومين) للمشاركين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2B8C6"/>
                </a:solidFill>
              </a:defRPr>
            </a:pPr>
            <a:r>
              <a:t>بداية التجربة: خلال أسبوعين من الموافقة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campus27.vercel.app</a:t>
            </a:r>
            <a:br/>
            <a:r>
              <a:t>admin@campus27.sa / 123456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